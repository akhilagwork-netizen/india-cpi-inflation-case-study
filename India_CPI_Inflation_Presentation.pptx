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 CPI Inflation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CPI data to identify key inflation drivers</a:t>
            </a:r>
          </a:p>
          <a:p>
            <a:r>
              <a:t>• Study trends using time-series analysis</a:t>
            </a:r>
          </a:p>
          <a:p>
            <a:r>
              <a:t>• Assess impact of COVID and crude oil on inflation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Food &amp; Beverages contributes 49.56% to CPI</a:t>
            </a:r>
          </a:p>
          <a:p>
            <a:r>
              <a:t>• Housing, Health, Transport are next major contributors</a:t>
            </a:r>
          </a:p>
          <a:p>
            <a:r>
              <a:t>• Discretionary categories have lower influence</a:t>
            </a:r>
          </a:p>
          <a:p>
            <a:r>
              <a:t>• Inflation is structurally driven by essentials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Inflation Trend (2017–2023)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Inflation stable between 2017–2019</a:t>
            </a:r>
          </a:p>
          <a:p>
            <a:r>
              <a:t>• Sharp rise after 2020 due to supply shocks</a:t>
            </a:r>
          </a:p>
          <a:p>
            <a:r>
              <a:t>• 2022 identified as peak inflation year (~7% YoY)</a:t>
            </a:r>
          </a:p>
          <a:p>
            <a:r>
              <a:t>• Driven by food and fuel pressures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Inflation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volatility observed in food category</a:t>
            </a:r>
          </a:p>
          <a:p>
            <a:r>
              <a:t>• August 2022 showed highest MoM spike</a:t>
            </a:r>
          </a:p>
          <a:p>
            <a:r>
              <a:t>• Cereals and pulses were key drivers</a:t>
            </a:r>
          </a:p>
          <a:p>
            <a:r>
              <a:t>• Staples strongly influence overall CPI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COVID-19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Post-March 2020 inflation structurally higher</a:t>
            </a:r>
          </a:p>
          <a:p>
            <a:r>
              <a:t>• 8–12% permanent rise in essential categories</a:t>
            </a:r>
          </a:p>
          <a:p>
            <a:r>
              <a:t>• Food, healthcare, and household goods most affected</a:t>
            </a:r>
          </a:p>
          <a:p>
            <a:r>
              <a:t>• Indicates long-term cost of living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Crude Oil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of 0.82 between crude oil and transport inflation</a:t>
            </a:r>
          </a:p>
          <a:p>
            <a:r>
              <a:t>• Rising oil prices increase logistics and fuel costs</a:t>
            </a:r>
          </a:p>
          <a:p>
            <a:r>
              <a:t>• Transport inflation transmits into food and goods prices</a:t>
            </a:r>
          </a:p>
          <a:p>
            <a:r>
              <a:t>• India CPI vulnerable to global energy shocks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Inflation driven mainly by essentials</a:t>
            </a:r>
          </a:p>
          <a:p>
            <a:r>
              <a:t>• External shocks have long-lasting effects</a:t>
            </a:r>
          </a:p>
          <a:p>
            <a:r>
              <a:t>• Supply-side pressures dominate recent inflation trends</a:t>
            </a:r>
          </a:p>
          <a:p>
            <a:r>
              <a:t>• Effective policy must address food and energy stability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